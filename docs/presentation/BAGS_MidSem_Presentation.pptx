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CPU inference time (ms, measured)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FA5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A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YOLO11m (v1)</c:v>
                  </c:pt>
                  <c:pt idx="1">
                    <c:v>YOLO26n (v2)</c:v>
                  </c:pt>
                  <c:pt idx="2">
                    <c:v>YOLO11n (v3)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962.7</c:v>
                </c:pt>
                <c:pt idx="1">
                  <c:v>95.9</c:v>
                </c:pt>
                <c:pt idx="2">
                  <c:v>116.2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+mn-lt"/>
              </a:rPr>
              <a:t>TFLite model size (MB)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Size (MB)</c:v>
                </c:pt>
              </c:strCache>
            </c:strRef>
          </c:tx>
          <c:spPr>
            <a:solidFill>
              <a:srgbClr val="9A9A9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9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FA50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3A3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YOLO11m (v1)</c:v>
                  </c:pt>
                  <c:pt idx="1">
                    <c:v>YOLO26n (v2)</c:v>
                  </c:pt>
                  <c:pt idx="2">
                    <c:v>YOLO11n (v3)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</c:v>
                </c:pt>
                <c:pt idx="1">
                  <c:v>9.8</c:v>
                </c:pt>
                <c:pt idx="2">
                  <c:v>10.6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early, shared, automatic hazard information saves time and risk. The two numbers are cited: MoRTH 2022 report and the Waze reliability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strands of prior work. Each solves one piece; none closes the loop from detection to verified, automatically cleared alerts and rerouting.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six-stage loop. Every stage after Detect is new relative to the vision papers in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everything on the phone. Middle: the server keeps one record per hazard and decides who to tell. Right: Firebase delivers pushes; routing services plan routes.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rows are from our own benchmark on a laptop CPU. Published rows are Ultralytics' COCO figures for each architecture, not our hazard dataset. Fill the last two rows from the ML team's validation run and the app's on-screen timing.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" cy="6601968"/>
          </a:xfrm>
          <a:prstGeom prst="rect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" y="1097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COEP Technological University, Pune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Group ID: [Group ID]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88720" y="0"/>
            <a:ext cx="7955280" cy="566928"/>
          </a:xfrm>
          <a:prstGeom prst="rect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601968"/>
            <a:ext cx="3017520" cy="256032"/>
          </a:xfrm>
          <a:prstGeom prst="rect">
            <a:avLst/>
          </a:prstGeom>
          <a:solidFill>
            <a:srgbClr val="6F5207"/>
          </a:solidFill>
          <a:ln w="12700">
            <a:solidFill>
              <a:srgbClr val="6F520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0" y="6601968"/>
            <a:ext cx="3108960" cy="256032"/>
          </a:xfrm>
          <a:prstGeom prst="rect">
            <a:avLst/>
          </a:prstGeom>
          <a:solidFill>
            <a:srgbClr val="A77B0B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6601968"/>
            <a:ext cx="3017520" cy="256032"/>
          </a:xfrm>
          <a:prstGeom prst="rect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Group ID: [Group ID]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17520" y="6601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COEP Technological University, Pune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October 2026</a:t>
            </a:r>
            <a:endParaRPr lang="en-US" sz="900" dirty="0"/>
          </a:p>
        </p:txBody>
      </p:sp>
      <p:sp>
        <p:nvSpPr>
          <p:cNvPr id="1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ct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0" cy="6601968"/>
          </a:xfrm>
          <a:prstGeom prst="rect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" y="10972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COEP Technological University, Pune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" y="777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Group ID: [Group ID]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601968"/>
            <a:ext cx="3017520" cy="256032"/>
          </a:xfrm>
          <a:prstGeom prst="rect">
            <a:avLst/>
          </a:prstGeom>
          <a:solidFill>
            <a:srgbClr val="6F5207"/>
          </a:solidFill>
          <a:ln w="12700">
            <a:solidFill>
              <a:srgbClr val="6F520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6601968"/>
            <a:ext cx="3108960" cy="256032"/>
          </a:xfrm>
          <a:prstGeom prst="rect">
            <a:avLst/>
          </a:prstGeom>
          <a:solidFill>
            <a:srgbClr val="A77B0B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6601968"/>
            <a:ext cx="3017520" cy="256032"/>
          </a:xfrm>
          <a:prstGeom prst="rect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6601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Group ID: [Group ID]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6601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COEP Technological University, Pune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6601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October 2026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/ 29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1828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Mid-Sem B. Tech.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Presentation 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08760" y="960120"/>
            <a:ext cx="7315200" cy="1234440"/>
          </a:xfrm>
          <a:prstGeom prst="roundRect">
            <a:avLst>
              <a:gd name="adj" fmla="val 4444"/>
            </a:avLst>
          </a:prstGeom>
          <a:solidFill>
            <a:srgbClr val="DFA50E"/>
          </a:solidFill>
          <a:ln w="12700">
            <a:solidFill>
              <a:srgbClr val="A77B0B"/>
            </a:solidFill>
            <a:prstDash val="solid"/>
          </a:ln>
          <a:effectLst>
            <a:outerShdw sx="100000" sy="100000" kx="0" ky="0" algn="bl" rotWithShape="0" blurRad="50800" dist="25400" dir="2700000">
              <a:srgbClr val="777777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691640" y="100584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Crowd-Verified Road Hazard Detection and Hazard-Aware Navigation using On-Device Deep Learning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E2A1F"/>
                </a:solidFill>
              </a:rPr>
              <a:t>Presented by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27889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[Member 1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[Member 2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[Member 3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[Member 4 Name]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2A1F"/>
                </a:solidFill>
              </a:rPr>
              <a:t>Project Guide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[Guide Name]</a:t>
            </a:r>
            <a:endParaRPr lang="en-US" sz="1600" dirty="0"/>
          </a:p>
        </p:txBody>
      </p:sp>
      <p:pic>
        <p:nvPicPr>
          <p:cNvPr id="21" name="Image 0" descr="C:\Users\sonaw\AppData\Local\Temp\claude\C--workspace-BAGS-main\8207937d-1944-4f74-9838-6b42875424ae\scratchpad\build\fig\logo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3977640"/>
            <a:ext cx="960120" cy="114300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25780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E2A1F"/>
                </a:solidFill>
              </a:rPr>
              <a:t>Department of Computer Science &amp; Engineering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E2A1F"/>
                </a:solidFill>
              </a:rPr>
              <a:t>COEP Technological University, Pune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E2A1F"/>
                </a:solidFill>
              </a:rPr>
              <a:t>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Data Sheet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1399032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63040" y="86868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00200" y="941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Member 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128930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Name: [Member 1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MIS: [MIS No.]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Degree: B.Tech ([Batch])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Branch: [Branch]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Division: [Division]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Department: Computer Science and Engineering, COEP Technological University, Pune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86868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941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Member 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128930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Name: [Member 2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MIS: [MIS No.]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Degree: B.Tech ([Batch])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Branch: [Branch]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Division: [Division]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Department: Computer Science and Engineering, COEP Technological University, Pune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63040" y="3657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00200" y="37307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Member 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07822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Name: [Member 3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MIS: [MIS No.]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Degree: B.Tech ([Batch])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Branch: [Branch]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Division: [Division]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Department: Computer Science and Engineering, COEP Technological University, Pune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57800" y="3657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37307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Member 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407822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Name: [Member 4 Name]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MIS: [MIS No.]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Degree: B.Tech ([Batch])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Branch: [Branch]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Division: [Division]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Department: Computer Science and Engineering, COEP Technological University, Pune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Contents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1399032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914400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20240" y="914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Introduction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920240" y="1444752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92024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14447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Literature Review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920240" y="1975104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920240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468880" y="19751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Problem Statement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1920240" y="2505456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2024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25054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Objectives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920240" y="3035808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9202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3035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SRS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920240" y="3566160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92024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4688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Proposed Methodology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1920240" y="4096512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92024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4096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Results &amp; Discussion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1920240" y="4626864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92024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2468880" y="4626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Conclusion &amp; Future Scope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1920240" y="5157216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9202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468880" y="51572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Publication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1920240" y="5687568"/>
            <a:ext cx="365760" cy="365760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920240" y="5687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2468880" y="56875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</a:rPr>
              <a:t>References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0" y="183794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868680"/>
            <a:ext cx="4846320" cy="5577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Road hazards (accidents, fallen objects, floods, potholes) are usually discovered by a driver only on reaching them.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Navigation apps depend on drivers reporting hazards by hand, and on other drivers confirming or clearing them by hand [13].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Earlier crowdsensing used phone vibration and GPS, which only notices a hazard after driving over it [1, 2].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Compact detectors (YOLO family) now run on a phone in real time [8–12], so a dashcam phone can see hazards ahead.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BAGS: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 dashcam phone detects hazards on-device, shares them, warns cars that are heading for them, reroutes drivers, and clears hazards automatically.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105156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234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5207"/>
                </a:solidFill>
              </a:rPr>
              <a:t>4.61 lakh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9659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road accidents in India in 2022, claiming 1.68 lakh lives [21]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365760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3840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F5207"/>
                </a:solidFill>
              </a:rPr>
              <a:t>9.8 min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5720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earlier than probe data: how much sooner crowd reports flag incidents [13]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Literature Review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2276856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63040" y="8686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00200" y="941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1. Sensor crowdsensing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1289304"/>
            <a:ext cx="3337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Accelerometer + GPS on taxis or phones finds potholes and braking [1, 2]. Detects only after the car hits the hazard.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8686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941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2. Vision road damage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1289304"/>
            <a:ext cx="3337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Smartphone images + CNNs classify cracks and potholes; large public datasets [3, 4]. Offline surveys, no live alerts.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63040" y="27432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00200" y="28163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3. Dashcam accident models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3163824"/>
            <a:ext cx="3337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Accident anticipation and anomaly detection in driving video [5–7]. Heavy models; protect only the ego car.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12080" y="27432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49240" y="28163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4. Efficient detectors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3163824"/>
            <a:ext cx="3337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YOLO one-stage detection [8], NMS-free YOLOv10 [9], YOLO11 / YOLO26 [10, 11], int8 inference [12].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63040" y="46177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00200" y="4690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5. Crowd reports and trust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5038344"/>
            <a:ext cx="3337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Waze reports are early but partial [13]; truth discovery weighs noisy sources [14]; V2X DENM shares events [17].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212080" y="46177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49240" y="469087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6. Routing on OSM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349240" y="5038344"/>
            <a:ext cx="33375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OSRM with contraction hierarchies [15, 16]; avoid-area routing via OpenRouteService [20].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Literature Review: Comparison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2276856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/ 29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914400"/>
          <a:ext cx="74066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731520"/>
                <a:gridCol w="777240"/>
                <a:gridCol w="685800"/>
                <a:gridCol w="868680"/>
                <a:gridCol w="77724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On-device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Auto-confirm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Auto-clear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Pothole Patrol [1]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Nericell 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Maeda et al. 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 anticipation [5–7]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Waze reports [13]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ETSI DENM (V2X) [17]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BAGS (this 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1463040" y="4663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7B0B"/>
                </a:solidFill>
              </a:rPr>
              <a:t>Table 1: Capabilities of prior systems (✓ yes, ~ partial or manual, ✗ no), from the cited descriptions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5074920"/>
            <a:ext cx="740664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Prior work covers single steps; none verifies hazards from several cars and clears them automatically.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Manual platforms rely on drivers tapping "still there?"; BAGS uses passing cameras instead.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Research Gap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2715768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Current limitations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1280160"/>
            <a:ext cx="7406640" cy="5577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Vision-based road studies stop at detection: results are not shared with the cars that are about to meet the hazard.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Crowd platforms trust one manual report and keep a hazard until someone manually clears it or a fixed timeout passes.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 single false detection can reroute every car, because no confirmation step is applied.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Hazards on the far carriageway of a divided road are treated as being on the driver's route.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Phones can only receive alerts while near the hazard; drivers heading for it from far away are not told in time to reroute.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0" y="2715768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63040" y="868680"/>
            <a:ext cx="7406640" cy="1554480"/>
          </a:xfrm>
          <a:prstGeom prst="roundRect">
            <a:avLst>
              <a:gd name="adj" fmla="val 3529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45920" y="960120"/>
            <a:ext cx="7040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Core problem: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build a system in which phones detect road hazards on-device from a dashcam feed, and the hazards are verified by several cars, sent to the drivers they affect, routed around, and removed automatically once the road is clear.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697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154680"/>
            <a:ext cx="7406640" cy="5577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Earlier warning for drivers approaching a blocked road, and fewer secondary collisions.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No manual reporting while driving, which is itself a distraction.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Stale hazards stop sending drivers on needless detours.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Only small JSON events leave the phone: no video upload, low data use.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3154680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Primary objectives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508760" y="137160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5087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13258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Run a YOLO hazard detector on the phone at ~3 frames/s and report detections with GPS position and direction of travel.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508760" y="219456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21488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Merge repeat reports into hazards on a server, and confirm them only with two cars or one very confident detection.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508760" y="301752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087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29718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Push each hazard to cars within 2 km or navigating a route that passes it ahead.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508760" y="384048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087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057400" y="3794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Plan hazard-aware routes and offer reroutes, and faster routes once a hazard clears.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508760" y="466344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087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46177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Expire hazards by type and clear them when passing cars no longer see them.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08760" y="548640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0876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057400" y="54406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Compare three detector generations for size, speed and accuracy.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Existing Methodology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0" y="3154680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08760" y="96012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914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Manual crowd reporting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13533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Waze-style: a driver taps a report; others confirm or clear it by hand [13]. Driver distraction; stale reports.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08760" y="233172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2286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Sensor crowdsensing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27249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Accelerometer/GPS anomalies aggregated on a server [1, 2]. Hazard found only after it is hit.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508760" y="370332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05740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Offline vision surveys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2057400" y="40965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Smartphone images labelled with CNN detectors for road-maintenance maps [3, 4]. No real-time sharing.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508760" y="507492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0876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057400" y="5029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V2X event messages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5468112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ETSI DENM broadcasts events between equipped vehicles [17]. Needs special radios; no camera verification.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SDLC Model and SRS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3593592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7772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SDLC model: iterative and incremental prototyping.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Detection, reporting, alerts, routing and hazard verification were built and tested on Android in stages, each followed by automated tests and a test drive.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16916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7B0B"/>
                </a:solidFill>
              </a:rPr>
              <a:t>Table 2: Software Requirements Specification (SRS)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2057400"/>
          <a:ext cx="7406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852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accident, fallen object and flood on-device from the camera at ~3 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type, confidence, GPS position and heading; merge repeats into one hazard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alerts to cars within 2 km or ahead on their route; show banner and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Hazard-aware routing; reroute offer with 10 s countdown; faster route after clearance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 hazards by type; clear after 2 'not seen' votes from passing cars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throttled to ≤ 3.3 fps; stale frames dropped, never queued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video leaves the phone; only small JSON 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failures non-fatal; retried at next ping (20 s) or sync (15 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(Flutter 3.47.2), Python 3.13 + FastAPI + SQLite, Firebase FCM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Functional Test Cases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0" y="3593592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749808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7B0B"/>
                </a:solidFill>
              </a:rPr>
              <a:t>Table 3: Functional test cases (all automated, all passing)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115568"/>
          <a:ext cx="7406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657600"/>
                <a:gridCol w="3017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car reports the same accident repeatedly while passing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hazard; nearby cars pushed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second car reports the same hazard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confirmed; one more push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report with confidence 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immediately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cars pass, detecting, without seeing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deleted; apps drop it at next 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'Not seen' vote from a car going the other 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 ignored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Unconfirmed, or oncoming-only, accident on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only; no reroute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Detour around one hazard runs into another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avoid request includes 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frames arrive while a detection waits for GPS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checked; one shared GPS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Proposed Methodology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3250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63040" y="868680"/>
            <a:ext cx="1828800" cy="731520"/>
          </a:xfrm>
          <a:prstGeom prst="chevron">
            <a:avLst/>
          </a:prstGeom>
          <a:solidFill>
            <a:srgbClr val="DFA5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00200" y="868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Detect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86868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YOLO on the phone checks ~3 frames/s; per-class thresholds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63040" y="1801368"/>
            <a:ext cx="1828800" cy="731520"/>
          </a:xfrm>
          <a:prstGeom prst="chevron">
            <a:avLst/>
          </a:prstGeom>
          <a:solidFill>
            <a:srgbClr val="A77B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00200" y="1801368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Report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1801368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Type, confidence, GPS and heading sent to the server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463040" y="2734056"/>
            <a:ext cx="1828800" cy="731520"/>
          </a:xfrm>
          <a:prstGeom prst="chevron">
            <a:avLst/>
          </a:prstGeom>
          <a:solidFill>
            <a:srgbClr val="DFA5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00200" y="273405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Verify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2734056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Repeats merged within 50 m; confirmed by 2 cars or confidence ≥ 0.8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63040" y="3666744"/>
            <a:ext cx="1828800" cy="731520"/>
          </a:xfrm>
          <a:prstGeom prst="chevron">
            <a:avLst/>
          </a:prstGeom>
          <a:solidFill>
            <a:srgbClr val="A77B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00200" y="366674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Alert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3666744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FCM push to cars within 2 km, or ahead on their route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463040" y="4599432"/>
            <a:ext cx="1828800" cy="731520"/>
          </a:xfrm>
          <a:prstGeom prst="chevron">
            <a:avLst/>
          </a:prstGeom>
          <a:solidFill>
            <a:srgbClr val="DFA50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600200" y="459943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Reroute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4599432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Avoid confirmed hazards on this side of the road; 10 s offer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463040" y="5532120"/>
            <a:ext cx="1828800" cy="731520"/>
          </a:xfrm>
          <a:prstGeom prst="chevron">
            <a:avLst/>
          </a:prstGeom>
          <a:solidFill>
            <a:srgbClr val="A77B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600200" y="5532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Clear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520440" y="553212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Expire by type; 2 passing cars that miss it remove it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Architectural Model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3250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14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685800"/>
            <a:ext cx="2606040" cy="4572000"/>
          </a:xfrm>
          <a:prstGeom prst="roundRect">
            <a:avLst>
              <a:gd name="adj" fmla="val 2105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17320" y="713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5207"/>
                </a:solidFill>
              </a:rPr>
              <a:t>VEHICLE: BAGS APP (Flutter)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81328" y="1024128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36192" y="1024128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Navigation &amp; map: hazard-aware routes, reroute offers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481328" y="1719072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36192" y="1719072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Dashcam camera (frames dropped to ~3 fps)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81328" y="2414016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36192" y="2414016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YOLO detector (TFLite, on-device)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481328" y="3108960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36192" y="3108960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Detection pipeline: per-class thresholds, GPS + heading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481328" y="3803904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536192" y="3803904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Clearance watcher: 'not seen' votes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481328" y="4498848"/>
            <a:ext cx="237744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36192" y="4498848"/>
            <a:ext cx="22677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Location pinger: position + route, every 20 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1783080"/>
            <a:ext cx="2286000" cy="3474720"/>
          </a:xfrm>
          <a:prstGeom prst="roundRect">
            <a:avLst>
              <a:gd name="adj" fmla="val 2400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8912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5207"/>
                </a:solidFill>
              </a:rPr>
              <a:t>ALERT SERVER (FastAPI + SQLite)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53128" y="2121408"/>
            <a:ext cx="206654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07992" y="2121408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Merge sightings within 50 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53128" y="2743200"/>
            <a:ext cx="206654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07992" y="274320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Confirm: 2 cars or conf ≥ 0.8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53128" y="3364992"/>
            <a:ext cx="206654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07992" y="3364992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Expire per type; clear on 2 same-direction votes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53128" y="4114800"/>
            <a:ext cx="206654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A77B0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07992" y="4114800"/>
            <a:ext cx="1956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Target pushes: ≤ 2 km, or ahead on route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38912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</a:rPr>
              <a:t>GET /alerts (15 s sync)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7132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5207"/>
                </a:solidFill>
              </a:rPr>
              <a:t>EXTERNAL SERVICES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9440" y="1024128"/>
            <a:ext cx="1920240" cy="585216"/>
          </a:xfrm>
          <a:prstGeom prst="roundRect">
            <a:avLst>
              <a:gd name="adj" fmla="val 9375"/>
            </a:avLst>
          </a:prstGeom>
          <a:solidFill>
            <a:srgbClr val="F2F2F2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004304" y="1024128"/>
            <a:ext cx="1810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Routing &amp; maps: OpenRouteService / OSRM, OSM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4114800"/>
            <a:ext cx="1920240" cy="530352"/>
          </a:xfrm>
          <a:prstGeom prst="roundRect">
            <a:avLst>
              <a:gd name="adj" fmla="val 10345"/>
            </a:avLst>
          </a:prstGeom>
          <a:solidFill>
            <a:srgbClr val="F2F2F2"/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04304" y="411480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Firebase Cloud Messaging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858768" y="1316736"/>
            <a:ext cx="3090672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4206240" y="1069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route request (avoid areas)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58768" y="3401568"/>
            <a:ext cx="484632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3611880" y="3172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detections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58768" y="4096512"/>
            <a:ext cx="484632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3611880" y="38679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votes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858768" y="4791456"/>
            <a:ext cx="484632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3611880" y="45628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pings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19672" y="4379976"/>
            <a:ext cx="429768" cy="0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6400800" y="41330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alerts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909560" y="4645152"/>
            <a:ext cx="0" cy="841248"/>
          </a:xfrm>
          <a:prstGeom prst="line">
            <a:avLst/>
          </a:prstGeom>
          <a:noFill/>
          <a:ln w="19050">
            <a:solidFill>
              <a:srgbClr val="5A5A5A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7955280" y="4937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5A5A"/>
                </a:solidFill>
              </a:rPr>
              <a:t>push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371600" y="5486400"/>
            <a:ext cx="7498080" cy="566928"/>
          </a:xfrm>
          <a:prstGeom prst="roundRect">
            <a:avLst>
              <a:gd name="adj" fmla="val 9677"/>
            </a:avLst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426464" y="5486400"/>
            <a:ext cx="7388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Other cars' phones: alert banner, map dot, reroute offer (and, when the road clears, a faster-route offer)</a:t>
            </a:r>
            <a:endParaRPr lang="en-US" sz="1150" dirty="0"/>
          </a:p>
        </p:txBody>
      </p:sp>
      <p:sp>
        <p:nvSpPr>
          <p:cNvPr id="60" name="Text 58"/>
          <p:cNvSpPr txBox="1"/>
          <p:nvPr/>
        </p:nvSpPr>
        <p:spPr>
          <a:xfrm>
            <a:off x="1463040" y="61722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7B0B"/>
                </a:solidFill>
              </a:rPr>
              <a:t>Figure 1: BAGS system architecture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On-Device Detection Pipeline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3250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15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868680"/>
            <a:ext cx="7406640" cy="3749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Throttle: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the camera gives ~30 frames/s; the model checks at most one per 300 ms. Frames arriving while it is busy are dropped, never queued.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Model-agnostic decoding: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the app reads the output shape and handles a raw YOLO head (box + class scores, NMS in the app) or an end-to-end head (NMS inside the model).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Per-class thresholds: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report the most confident box that passes its own class threshold (e.g. flood 0.25, accident 0.469).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Location and heading: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one GPS lookup is shared by a burst of detections; the model keeps checking frames meanwhile. Heading is kept only above 2 m/s.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03120" y="4114800"/>
            <a:ext cx="6126480" cy="1554480"/>
          </a:xfrm>
          <a:prstGeom prst="roundRect">
            <a:avLst>
              <a:gd name="adj" fmla="val 3529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41605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Reported detection = argmax over boxes b with conf(b) ≥ τ(class(b)) of conf(b)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τ: accident 0.469 · fallen object 0.477 · flood 0.25 · clear road 0.406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If no box passes, the most confident box is shown on screen but not reported.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Hazard Lifecycle on the Server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3250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16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868680"/>
            <a:ext cx="74066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Merge: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 report of the same type within 50 m of a live hazard is a sighting of it, not a new hazard.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Confirm: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 hazard reroutes cars only when reporters ≥ 2 or max confidence ≥ 0.8. Unconfirmed hazards still warn (faded on the map).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Clear: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deleted once 2 different cars drive past, detecting, without seeing it, with no sighting since.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0632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7B0B"/>
                </a:solidFill>
              </a:rPr>
              <a:t>Table 4: Lifetime after the last sighting, by hazard type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03120" y="3429000"/>
          <a:ext cx="6126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26517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Accident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Reroute (when confirmed)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Fallen object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hour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Reroute (when confirmed)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Reroute (when confirmed)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Pothole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/ new label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hours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Direction-Aware Hazard Relevance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3250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17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868680"/>
            <a:ext cx="6126480" cy="1143000"/>
          </a:xfrm>
          <a:prstGeom prst="roundRect">
            <a:avLst>
              <a:gd name="adj" fmla="val 4800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40280" y="91440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Δθ(a, b) = | ((a − b + 180) mod 360) − 180 |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Same way ⇔ Δθ ≤ 60°, compared with the route's direction within ±30 m of the hazard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2286000"/>
            <a:ext cx="740664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Each report carries the reporting car's heading; each hazard lists its reporters' headings.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Reroute: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only for hazards reported going the same way as the route. Oncoming-only reports stay as warnings (an undivided road may still be blocked).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Push: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cars far ahead on a route are told only about hazards reported in their direction.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</a:rPr>
              <a:t>Votes: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a car going the other way cannot clear a hazard; its camera may have faced away.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Hazards with no known heading count for everyone, as before.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Hazard-Aware Routing and Alerts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3250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18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63040" y="86868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00200" y="941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Route planning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128930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With an OpenRouteService key: avoid 60 m circles around blocking hazards on the route's side, adding any the detour meets (up to 3 rounds).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Without: OSRM alternatives, then forced detours 400 m / 1 km beside the hazard.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57800" y="86868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94183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Reroute offers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128930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 confirmed hazard reported ahead shows a card: 'Keep route' or 'New route (10)', taken automatically after 10 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When a blocking hazard clears, a faster route is offered if it saves ≥ max(60 s, 5% of time left).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463040" y="3657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00200" y="37307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Who gets a push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00200" y="407822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Cars within 2 km of the hazard; plus confirmed hazards to navigating cars whose route (sent with each ping, thinned to 10 m) passes it ahead, within a 50 m corridor, if pinged in the last 2 min.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57800" y="3657600"/>
            <a:ext cx="3611880" cy="2606040"/>
          </a:xfrm>
          <a:prstGeom prst="roundRect">
            <a:avLst>
              <a:gd name="adj" fmla="val 2807"/>
            </a:avLst>
          </a:prstGeom>
          <a:solidFill>
            <a:srgbClr val="FBF3DC"/>
          </a:solidFill>
          <a:ln w="9525">
            <a:solidFill>
              <a:srgbClr val="E2CF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37307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F5207"/>
                </a:solidFill>
              </a:rPr>
              <a:t>Keeping the map current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4078224"/>
            <a:ext cx="333756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Hazards re-synced every 15 s along the trip; ones the server no longer lists disappear. Repeat sightings push only when a hazard is new or newly confirmed.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Experimental Setup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032504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19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Setup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1280160"/>
            <a:ext cx="7406640" cy="5577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Phone: Android (Redmi Note 8) mounted as a dashcam; app built with Flutter 3.47.2.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Server: FastAPI + SQLite on a laptop; pushes through the Firebase Admin SDK.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Models: YOLO11m, YOLO26n and YOLO11n trained by the team on 4 classes (accident, non-accident, fallen object, flood); ONNX converted to TFLite with onnx2tf.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Benchmark: Intel Core i7-1165G7, 640×640 input, batch 1, ONNX Runtime 1.26 CPU; mean of 20 runs after warm-up.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Verification: 46 Flutter and 21 Python automated tests, plus end-to-end HTTP tests on a throwaway database.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Model Comparison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471416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20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731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77B0B"/>
                </a:solidFill>
              </a:rPr>
              <a:t>Table 5: Detector generations used in BAGS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1097280"/>
          <a:ext cx="74066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81912"/>
                <a:gridCol w="1591056"/>
                <a:gridCol w="1581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YOLO11m (v1)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YOLO26n (v2)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YOLO11n (v3)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20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(counted)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 MB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[1, 8, 8400]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[1, 300, 6]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[1, 8, 8400]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 the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latency, 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963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mAP50-95, published [10, 11]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GFLOPs, published [10, 11]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TFLite vs ONNX, max score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1.4×10⁻⁷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4.1×10⁻⁷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2.5×10⁻⁷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 test-set mAP50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[ML team]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[ML team]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[ML team]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On-phone time per 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[measure]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[measure]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[measure]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CF9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Model Comparison: Size and Speed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471416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21 / 29</a:t>
            </a:r>
            <a:endParaRPr lang="en-US" sz="9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1463040" y="868680"/>
          <a:ext cx="3657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Chart 1" descr=""/>
          <p:cNvGraphicFramePr/>
          <p:nvPr/>
        </p:nvGraphicFramePr>
        <p:xfrm>
          <a:off x="5257800" y="868680"/>
          <a:ext cx="3657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1463040" y="4892040"/>
            <a:ext cx="74066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The nano models are ~8× smaller and ~8–10× faster than YOLO11m, which makes ~3 fps on a phone realistic.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YOLO26n removes NMS from the app; YOLO11n needs NMS on the phone. The final choice depends on hazard test-set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System Results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471416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22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63040" y="8686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97840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F5207"/>
                </a:solidFill>
              </a:rPr>
              <a:t>15 → 2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1737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pushes per nearby car for one hazard (reporter passes it, ~15 reports)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0" y="86868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12080" y="97840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F5207"/>
                </a:solidFill>
              </a:rPr>
              <a:t>3 / 3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17373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frames checked while a detection waits for GPS (was 1 / 3)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63040" y="27432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63040" y="285292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F5207"/>
                </a:solidFill>
              </a:rPr>
              <a:t>2 h → 1 h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accident lifetime, or minutes once 2 passing cars miss it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212080" y="274320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285292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F5207"/>
                </a:solidFill>
              </a:rPr>
              <a:t>67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5440680" y="3611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automated tests passing: 46 app (Flutter), 21 server (Python)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754880"/>
            <a:ext cx="740664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TFLite conversions match their ONNX originals to within 10⁻⁶ on all three models.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End-to-end over HTTP: 3 reports → 1 hazard, confirmed by the 2nd car; opposite-direction vote ignored; 2 votes clear it.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Results and Discussion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471416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23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Discussion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1280160"/>
            <a:ext cx="7406640" cy="5577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Merging and confirmation cut alert spam and stop one false detection from rerouting everyone.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Automatic clearance replaces the fixed 2-hour timeout, so detours end soon after the road is cleared.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</a:rPr>
              <a:t>Direction awareness avoids rerouting drivers for crashes on the far carriageway.</a:t>
            </a:r>
            <a:endParaRPr lang="en-US" sz="16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</a:rPr>
              <a:t>Limitations: 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hazard-dataset accuracy and on-phone timing are still to be measured; CPU timings are from a laptop; thresholds (0.8, 60°, 2 votes) need tuning on real drives; the server runs on a laptop.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Novelty and Contributions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0" y="4471416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24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508760" y="978408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978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8686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Negative-evidence clearance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1271016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Passing cars' cameras vote a hazard away; no driver input needed.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508760" y="2093976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2093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1984248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Direction-aware relevance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2386584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Rerouting, far pushes and votes respect which side of the road reported 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508760" y="3209544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50876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057400" y="309981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Confirmation gate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2057400" y="350215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Reroute only for 2 reporters or confidence ≥ 0.8; unconfirmed hazards still warn.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508760" y="4325112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508760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2057400" y="421538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Route-ahead alerts and offers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2057400" y="4617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Drivers heading for a hazard are told early; reroute and faster-route offers with a countdown.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508760" y="5440680"/>
            <a:ext cx="384048" cy="384048"/>
          </a:xfrm>
          <a:prstGeom prst="ellipse">
            <a:avLst/>
          </a:prstGeom>
          <a:solidFill>
            <a:srgbClr val="DFA50E"/>
          </a:solidFill>
          <a:ln w="12700">
            <a:solidFill>
              <a:srgbClr val="DFA50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50876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057400" y="533095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Model-agnostic pipeline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2057400" y="573328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Swappable detectors (raw or end-to-end heads), compared across three generations.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Conclusion and Future Scope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0" y="4910328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25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Conclusion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1188720"/>
            <a:ext cx="740664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BAGS closes the loop from on-device detection to verified alerts, rerouting and automatic clearance.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Nano YOLO models make on-phone detection practical at ~3 fps.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Crowd verification and direction awareness make shared hazards trustworthy.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</a:rPr>
              <a:t>Future scope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794760"/>
            <a:ext cx="740664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Measure hazard-dataset accuracy and on-phone speed; int8 quantisation.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Confirm or clear hazards from traffic speed in location pings, without a camera.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Tune thresholds on real drives; host the server in the cloud with authentication.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</a:rPr>
              <a:t>Spread rerouted cars across several detours (load-aware rerouting).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Publication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5349240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26 / 29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2103120"/>
            <a:ext cx="6492240" cy="2194560"/>
          </a:xfrm>
          <a:prstGeom prst="roundRect">
            <a:avLst>
              <a:gd name="adj" fmla="val 3333"/>
            </a:avLst>
          </a:prstGeom>
          <a:solidFill>
            <a:srgbClr val="FBF3DC"/>
          </a:solidFill>
          <a:ln w="12700">
            <a:solidFill>
              <a:srgbClr val="E2CF9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3120" y="219456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Paper in preparation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"Crowd-Verified Road Hazard Detection and Hazard-Aware Navigation using On-Device Deep Learning"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5A5A"/>
                </a:solidFill>
              </a:rPr>
              <a:t>Target venue: [to be decided]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5788152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27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731520"/>
            <a:ext cx="7543800" cy="5806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J. Eriksson et al., "The Pothole Patrol: Using a mobile sensor network for road surface monitoring," in Proc. ACM MobiSys, 2008, pp. 29–39.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[2]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P. Mohan, V. N. Padmanabhan, R. Ramjee, "Nericell: Rich monitoring of road and traffic conditions using mobile smartphones," in Proc. ACM SenSys, 2008, pp. 323–336.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[3]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H. Maeda et al., "Road damage detection and classification using deep neural networks with smartphone images," Computer-Aided Civil and Infrastructure Engineering, vol. 33, no. 12, pp. 1127–1141, 2018.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[4]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D. Arya et al., "RDD2022: A multi-national image dataset for automatic road damage detection," Geoscience Data Journal, 2024.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[5]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F.-H. Chan, Y.-T. Chen, Y. Xiang, M. Sun, "Anticipating accidents in dashcam videos," in Proc. ACCV, 2016, pp. 136–153.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[6]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W. Bao, Q. Yu, Y. Kong, "Uncertainty-based traffic accident anticipation with spatio-temporal relational learning," in Proc. ACM Multimedia, 2020.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[7]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Y. Yao et al., "DoTA: Unsupervised detection of traffic anomaly in driving videos," IEEE Trans. Pattern Analysis and Machine Intelligence, vol. 45, no. 1, 2023.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[8]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J. Redmon, S. Divvala, R. Girshick, A. Farhadi, "You only look once: Unified, real-time object detection," in Proc. IEEE CVPR, 2016, pp. 779–788.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[9]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A. Wang et al., "YOLOv10: Real-time end-to-end object detection," in Proc. NeurIPS, 2024.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[10]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G. Jocher, J. Qiu, "Ultralytics YOLO11," 2024. [Online]. Available: docs.ultralytics.com/models/yolo11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[11]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Ultralytics, "YOLO26," 2025. [Online]. Available: docs.ultralytics.com/models/yolo26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1325880" y="2743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References (contd.)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5788152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28 / 29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731520"/>
            <a:ext cx="7543800" cy="5806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[12]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B. Jacob et al., "Quantization and training of neural networks for efficient integer-arithmetic-only inference," in Proc. IEEE CVPR, 2018, pp. 2704–2713.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[13]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M. Amin-Naseri et al., "Evaluating the reliability, coverage, and added value of crowdsourced traffic incident reports from Waze," Transportation Research Record, vol. 2672, no. 43, pp. 34–43, 2018.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[14]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Y. Li et al., "A survey on truth discovery," ACM SIGKDD Explorations, vol. 17, no. 2, pp. 1–16, 2016.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[15]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D. Luxen, C. Vetter, "Real-time routing with OpenStreetMap data," in Proc. ACM SIGSPATIAL GIS, 2011, pp. 513–516.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[16]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R. Geisberger, P. Sanders, D. Schultes, D. Delling, "Contraction hierarchies: Faster and simpler hierarchical routing in road networks," in Proc. WEA, LNCS 5038, 2008, pp. 319–333.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[17]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ETSI EN 302 637-3 V1.3.1, "Intelligent Transport Systems; Vehicular communications; Basic set of applications; Part 3: Decentralized Environmental Notification Basic Service," 2019.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[18]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D. H. Douglas, T. K. Peucker, "Algorithms for the reduction of the number of points required to represent a digitized line or its caricature," Cartographica, vol. 10, no. 2, pp. 112–122, 1973.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[19]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Google, "Firebase Cloud Messaging documentation." [Online]. Available: firebase.google.com/docs/cloud-messaging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[20]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HeiGIT, "openrouteservice API documentation." [Online]. Available: openrouteservice.org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77B0B"/>
                </a:solidFill>
              </a:rPr>
              <a:t>[21]  </a:t>
            </a:r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Ministry of Road Transport and Highways, Govt. of India, "Road Accidents in India 2022," 2023.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Outline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91440" y="185623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Introduction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1440" y="229514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Literature Review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91440" y="27340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1440" y="31729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611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SRS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" y="40507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Proposed Methodology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1440" y="44897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Results &amp; Discussion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1440" y="49286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Conclusion &amp; Future Scope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1440" y="5367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Publication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0" y="5788152"/>
            <a:ext cx="1188720" cy="40233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" y="5806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References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66019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29 / 29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65176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Questions / Discussion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Crowd-Verified Road Hazard Detection and Hazard-Aware Navigation</dc:title>
  <dc:subject>B.Tech mid-semester project presentation</dc:subject>
  <dc:creator>PptxGenJS</dc:creator>
  <cp:lastModifiedBy>PptxGenJS</cp:lastModifiedBy>
  <cp:revision>1</cp:revision>
  <dcterms:created xsi:type="dcterms:W3CDTF">2026-10-04T18:33:09Z</dcterms:created>
  <dcterms:modified xsi:type="dcterms:W3CDTF">2026-10-04T18:33:09Z</dcterms:modified>
</cp:coreProperties>
</file>